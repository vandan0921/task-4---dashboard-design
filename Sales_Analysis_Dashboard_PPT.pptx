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Gross Sales by Country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USA</c:v>
                  </c:pt>
                  <c:pt idx="1">
                    <c:v>Canada</c:v>
                  </c:pt>
                  <c:pt idx="2">
                    <c:v>France</c:v>
                  </c:pt>
                  <c:pt idx="3">
                    <c:v>Germany</c:v>
                  </c:pt>
                  <c:pt idx="4">
                    <c:v>Mexico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27.27</c:v>
                </c:pt>
                <c:pt idx="1">
                  <c:v>26.93</c:v>
                </c:pt>
                <c:pt idx="2">
                  <c:v>26.08</c:v>
                </c:pt>
                <c:pt idx="3">
                  <c:v>24.92</c:v>
                </c:pt>
                <c:pt idx="4">
                  <c:v>22.73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Gross Sales by Product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 ($M)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Paseo</c:v>
                  </c:pt>
                  <c:pt idx="1">
                    <c:v>VTT</c:v>
                  </c:pt>
                  <c:pt idx="2">
                    <c:v>Velo</c:v>
                  </c:pt>
                  <c:pt idx="3">
                    <c:v>Amarilla</c:v>
                  </c:pt>
                  <c:pt idx="4">
                    <c:v>Montana</c:v>
                  </c:pt>
                  <c:pt idx="5">
                    <c:v>Carretera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</c:v>
                </c:pt>
                <c:pt idx="1">
                  <c:v>22</c:v>
                </c:pt>
                <c:pt idx="2">
                  <c:v>20</c:v>
                </c:pt>
                <c:pt idx="3">
                  <c:v>19</c:v>
                </c:pt>
                <c:pt idx="4">
                  <c:v>17</c:v>
                </c:pt>
                <c:pt idx="5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Sales &amp; Profit by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Sep</c:v>
                  </c:pt>
                  <c:pt idx="4">
                    <c:v>Jun</c:v>
                  </c:pt>
                  <c:pt idx="5">
                    <c:v>Jul</c:v>
                  </c:pt>
                  <c:pt idx="6">
                    <c:v>Feb</c:v>
                  </c:pt>
                  <c:pt idx="7">
                    <c:v>Apr</c:v>
                  </c:pt>
                  <c:pt idx="8">
                    <c:v>Jan</c:v>
                  </c:pt>
                  <c:pt idx="9">
                    <c:v>May</c:v>
                  </c:pt>
                  <c:pt idx="10">
                    <c:v>Aug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19</c:v>
                </c:pt>
                <c:pt idx="2">
                  <c:v>17</c:v>
                </c:pt>
                <c:pt idx="3">
                  <c:v>13</c:v>
                </c:pt>
                <c:pt idx="4">
                  <c:v>11</c:v>
                </c:pt>
                <c:pt idx="5">
                  <c:v>9</c:v>
                </c:pt>
                <c:pt idx="6">
                  <c:v>8</c:v>
                </c:pt>
                <c:pt idx="7">
                  <c:v>7.5</c:v>
                </c:pt>
                <c:pt idx="8">
                  <c:v>7</c:v>
                </c:pt>
                <c:pt idx="9">
                  <c:v>6.5</c:v>
                </c:pt>
                <c:pt idx="10">
                  <c:v>6</c:v>
                </c:pt>
                <c:pt idx="11">
                  <c:v>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1E3A5F"/>
            </a:solidFill>
            <a:ln w="31750" cap="flat">
              <a:solidFill>
                <a:srgbClr val="1E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Sep</c:v>
                  </c:pt>
                  <c:pt idx="4">
                    <c:v>Jun</c:v>
                  </c:pt>
                  <c:pt idx="5">
                    <c:v>Jul</c:v>
                  </c:pt>
                  <c:pt idx="6">
                    <c:v>Feb</c:v>
                  </c:pt>
                  <c:pt idx="7">
                    <c:v>Apr</c:v>
                  </c:pt>
                  <c:pt idx="8">
                    <c:v>Jan</c:v>
                  </c:pt>
                  <c:pt idx="9">
                    <c:v>May</c:v>
                  </c:pt>
                  <c:pt idx="10">
                    <c:v>Aug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</c:v>
                </c:pt>
                <c:pt idx="1">
                  <c:v>2.6</c:v>
                </c:pt>
                <c:pt idx="2">
                  <c:v>2.3</c:v>
                </c:pt>
                <c:pt idx="3">
                  <c:v>1.8</c:v>
                </c:pt>
                <c:pt idx="4">
                  <c:v>1.6</c:v>
                </c:pt>
                <c:pt idx="5">
                  <c:v>1.4</c:v>
                </c:pt>
                <c:pt idx="6">
                  <c:v>1.2</c:v>
                </c:pt>
                <c:pt idx="7">
                  <c:v>1.1</c:v>
                </c:pt>
                <c:pt idx="8">
                  <c:v>1</c:v>
                </c:pt>
                <c:pt idx="9">
                  <c:v>0.9</c:v>
                </c:pt>
                <c:pt idx="10">
                  <c:v>0.8</c:v>
                </c:pt>
                <c:pt idx="11">
                  <c:v>0.7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FF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Units by Segment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bubble3D val="0"/>
            <c:spPr>
              <a:solidFill>
                <a:srgbClr val="06B6D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Government</c:v>
                </c:pt>
                <c:pt idx="1">
                  <c:v>Midmarket</c:v>
                </c:pt>
                <c:pt idx="2">
                  <c:v>Enterprise</c:v>
                </c:pt>
                <c:pt idx="3">
                  <c:v>Channel Partners</c:v>
                </c:pt>
                <c:pt idx="4">
                  <c:v>Small Business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41.81</c:v>
                </c:pt>
                <c:pt idx="1">
                  <c:v>15.29</c:v>
                </c:pt>
                <c:pt idx="2">
                  <c:v>14.97</c:v>
                </c:pt>
                <c:pt idx="3">
                  <c:v>14.32</c:v>
                </c:pt>
                <c:pt idx="4">
                  <c:v>13.61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FF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2013</c:v>
                  </c:pt>
                  <c:pt idx="1">
                    <c:v>2014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($M)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2013</c:v>
                  </c:pt>
                  <c:pt idx="1">
                    <c:v>2014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ANALYSIS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Business Intelligence | Power BI Report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1920240" cy="77724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$118.73M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C1"/>
                </a:solidFill>
              </a:rPr>
              <a:t>Total Sales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3931920"/>
            <a:ext cx="1920240" cy="77724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$16.89M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C1"/>
                </a:solidFill>
              </a:rPr>
              <a:t>Total Profit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931920"/>
            <a:ext cx="1920240" cy="77724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1.13M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C1"/>
                </a:solidFill>
              </a:rPr>
              <a:t>Units Sold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3931920"/>
            <a:ext cx="1920240" cy="77724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3931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$127.93M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C4C1"/>
                </a:solidFill>
              </a:rPr>
              <a:t>Gross Sales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Internship — Task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📌  Business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consolidated view of key metrics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Lack of insight into sales &amp; profitability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Unclear discount vs. margin impact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Missing regional &amp; product breakdowns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 trend analysis for seasonal planning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005840"/>
            <a:ext cx="4114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Key Objectives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Analyze overall sales performance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Identify top-performing products &amp; markets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Understand seasonal demand trends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Segment sales by business type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Assess discount impact on profit margins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Dataset: Financial Sample (Kaggle)  |  Tool: Power BI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Summary — Key Metrics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73152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" y="1097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84632" y="15270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$118.73M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1984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Total Sales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4632" y="22219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Total revenue from all transactions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73152" cy="1600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097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10712" y="15270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$127.93M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0712" y="1984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Gross Sales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10712" y="22219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Revenue before discounts &amp; returns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60120"/>
            <a:ext cx="73152" cy="1600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1097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36792" y="15270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$16.89M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36792" y="19842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Total Profit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36792" y="22219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Net profit after deducting costs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83080" y="283464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783080" y="2834640"/>
            <a:ext cx="73152" cy="1600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947672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947672" y="34015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$9.21M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947672" y="3858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Total Discounts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947672" y="40965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Discounts offered across all sales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834640"/>
            <a:ext cx="24688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834640"/>
            <a:ext cx="73152" cy="1600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2971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873752" y="34015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1.13M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873752" y="38587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Units Sold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73752" y="40965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Total product units sold overall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by Country &amp; Product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09160" y="91440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02920" y="44531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Insight: USA leads with $27.27M in gross sales. Paseo is the top product at $36M — nearly 2× the second-best seller VTT ($22M).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Trends, Segments &amp; Discount Impact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806440" y="960120"/>
          <a:ext cx="3017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365760" y="3977640"/>
          <a:ext cx="530352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1"/>
          <p:cNvSpPr/>
          <p:nvPr/>
        </p:nvSpPr>
        <p:spPr>
          <a:xfrm>
            <a:off x="365760" y="38862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YoY Growth: 2013 → 2014</a:t>
            </a:r>
            <a:endParaRPr lang="en-US" sz="1100" dirty="0"/>
          </a:p>
        </p:txBody>
      </p:sp>
      <p:sp>
        <p:nvSpPr>
          <p:cNvPr id="7" name="Shape 2"/>
          <p:cNvSpPr/>
          <p:nvPr/>
        </p:nvSpPr>
        <p:spPr>
          <a:xfrm>
            <a:off x="5806440" y="3977640"/>
            <a:ext cx="301752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3"/>
          <p:cNvSpPr/>
          <p:nvPr/>
        </p:nvSpPr>
        <p:spPr>
          <a:xfrm>
            <a:off x="5897880" y="4005072"/>
            <a:ext cx="283464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all segments at 41.81% of units sold.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peak season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drives highest revenue.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560320" cy="1645920"/>
          </a:xfrm>
          <a:prstGeom prst="rect">
            <a:avLst/>
          </a:prstGeom>
          <a:solidFill>
            <a:srgbClr val="1A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73152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" y="1097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🌍  USA Leads Globally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" y="1481328"/>
            <a:ext cx="23042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tops with $27.27M, but all 5 countries are within $5M — indicating balanced global reach with room to double-down in USA &amp; Canada.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560320" cy="1645920"/>
          </a:xfrm>
          <a:prstGeom prst="rect">
            <a:avLst/>
          </a:prstGeom>
          <a:solidFill>
            <a:srgbClr val="1A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00584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410712" y="1097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Paseo is Star Product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0712" y="1481328"/>
            <a:ext cx="23042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Paseo generates $36M — 28% of total product revenue. Prioritize inventory, promotions and upselling for this line.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005840"/>
            <a:ext cx="2560320" cy="1645920"/>
          </a:xfrm>
          <a:prstGeom prst="rect">
            <a:avLst/>
          </a:prstGeom>
          <a:solidFill>
            <a:srgbClr val="1A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005840"/>
            <a:ext cx="73152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1097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 Q4 Seasonal Surge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6792" y="1481328"/>
            <a:ext cx="23042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accounts for peak sales. Plan marketing campaigns and stock inventory 6–8 weeks before the holiday season.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2560320" cy="1645920"/>
          </a:xfrm>
          <a:prstGeom prst="rect">
            <a:avLst/>
          </a:prstGeom>
          <a:solidFill>
            <a:srgbClr val="1A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0360"/>
            <a:ext cx="73152" cy="1645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 Enterprise Dominates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355848"/>
            <a:ext cx="23042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segment holds 41.81% of units sold. Focus B2B sales efforts and government tenders for sustainable growth.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560320" cy="1645920"/>
          </a:xfrm>
          <a:prstGeom prst="rect">
            <a:avLst/>
          </a:prstGeom>
          <a:solidFill>
            <a:srgbClr val="1A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880360"/>
            <a:ext cx="73152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410712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🏷️  Discount Strategy Risk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10712" y="3355848"/>
            <a:ext cx="23042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$9.21M in discounts vs $16.89M profit (54% ratio). Re-evaluate high-discount SKUs — profits may be eroding.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2880360"/>
            <a:ext cx="2560320" cy="1645920"/>
          </a:xfrm>
          <a:prstGeom prst="rect">
            <a:avLst/>
          </a:prstGeom>
          <a:solidFill>
            <a:srgbClr val="1A3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2880360"/>
            <a:ext cx="73152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336792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Rapid YoY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3355848"/>
            <a:ext cx="23042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from $29M (2013) to $99M (2014) — a 241% jump. Maintain momentum with targeted regional expansion strategies.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Sales Analysis Dashboard  •  Power BI  •  Data Analyst Internship Task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Analysis Dashboard</dc:title>
  <dc:subject>PptxGenJS Presentation</dc:subject>
  <dc:creator>PptxGenJS</dc:creator>
  <cp:lastModifiedBy>PptxGenJS</cp:lastModifiedBy>
  <cp:revision>1</cp:revision>
  <dcterms:created xsi:type="dcterms:W3CDTF">2026-06-04T15:26:20Z</dcterms:created>
  <dcterms:modified xsi:type="dcterms:W3CDTF">2026-06-04T15:26:20Z</dcterms:modified>
</cp:coreProperties>
</file>